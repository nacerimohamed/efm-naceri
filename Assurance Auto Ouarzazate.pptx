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</p:sldIdLst>
  <p:sldSz cx="15113000" cy="21374100"/>
  <p:notesSz cx="6858000" cy="9144000"/>
  <p:embeddedFontLst>
    <p:embeddedFont>
      <p:font typeface="Open Sans" panose="020B0606030504020204"/>
      <p:regular r:id="rId7"/>
    </p:embeddedFont>
    <p:embeddedFont>
      <p:font typeface="Open Sans Bold" panose="020B0806030504020204"/>
      <p:bold r:id="rId8"/>
    </p:embeddedFont>
    <p:embeddedFont>
      <p:font typeface="Shrikhand" panose="02000000000000000000"/>
      <p:regular r:id="rId9"/>
    </p:embeddedFont>
    <p:embeddedFont>
      <p:font typeface="Gagalin" panose="00000500000000000000"/>
      <p:regular r:id="rId10"/>
    </p:embeddedFont>
    <p:embeddedFont>
      <p:font typeface="Calibri" panose="020F050202020403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9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8.fntdata"/><Relationship Id="rId13" Type="http://schemas.openxmlformats.org/officeDocument/2006/relationships/font" Target="fonts/font7.fntdata"/><Relationship Id="rId12" Type="http://schemas.openxmlformats.org/officeDocument/2006/relationships/font" Target="fonts/font6.fntdata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120000" cy="3630513"/>
          </a:xfrm>
          <a:custGeom>
            <a:avLst/>
            <a:gdLst/>
            <a:ahLst/>
            <a:cxnLst/>
            <a:rect l="l" t="t" r="r" b="b"/>
            <a:pathLst>
              <a:path w="15120000" h="3630513">
                <a:moveTo>
                  <a:pt x="0" y="0"/>
                </a:moveTo>
                <a:lnTo>
                  <a:pt x="15120000" y="0"/>
                </a:lnTo>
                <a:lnTo>
                  <a:pt x="15120000" y="3630513"/>
                </a:lnTo>
                <a:lnTo>
                  <a:pt x="0" y="363051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54318" b="-122823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-163195"/>
            <a:ext cx="15211425" cy="3754120"/>
            <a:chOff x="0" y="0"/>
            <a:chExt cx="2709333" cy="7018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3" cy="701860"/>
            </a:xfrm>
            <a:custGeom>
              <a:avLst/>
              <a:gdLst/>
              <a:ahLst/>
              <a:cxnLst/>
              <a:rect l="l" t="t" r="r" b="b"/>
              <a:pathLst>
                <a:path w="2709333" h="701860">
                  <a:moveTo>
                    <a:pt x="12801" y="0"/>
                  </a:moveTo>
                  <a:lnTo>
                    <a:pt x="2696532" y="0"/>
                  </a:lnTo>
                  <a:cubicBezTo>
                    <a:pt x="2699927" y="0"/>
                    <a:pt x="2703183" y="1349"/>
                    <a:pt x="2705584" y="3749"/>
                  </a:cubicBezTo>
                  <a:cubicBezTo>
                    <a:pt x="2707985" y="6150"/>
                    <a:pt x="2709333" y="9406"/>
                    <a:pt x="2709333" y="12801"/>
                  </a:cubicBezTo>
                  <a:lnTo>
                    <a:pt x="2709333" y="689059"/>
                  </a:lnTo>
                  <a:cubicBezTo>
                    <a:pt x="2709333" y="696129"/>
                    <a:pt x="2703602" y="701860"/>
                    <a:pt x="2696532" y="701860"/>
                  </a:cubicBezTo>
                  <a:lnTo>
                    <a:pt x="12801" y="701860"/>
                  </a:lnTo>
                  <a:cubicBezTo>
                    <a:pt x="5731" y="701860"/>
                    <a:pt x="0" y="696129"/>
                    <a:pt x="0" y="689059"/>
                  </a:cubicBezTo>
                  <a:lnTo>
                    <a:pt x="0" y="12801"/>
                  </a:lnTo>
                  <a:cubicBezTo>
                    <a:pt x="0" y="5731"/>
                    <a:pt x="5731" y="0"/>
                    <a:pt x="12801" y="0"/>
                  </a:cubicBezTo>
                  <a:close/>
                </a:path>
              </a:pathLst>
            </a:custGeom>
            <a:solidFill>
              <a:srgbClr val="FF0000">
                <a:alpha val="3176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3" cy="759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0" y="3462874"/>
            <a:ext cx="15120000" cy="3164585"/>
            <a:chOff x="0" y="-30039"/>
            <a:chExt cx="2709333" cy="5670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3" cy="537019"/>
            </a:xfrm>
            <a:custGeom>
              <a:avLst/>
              <a:gdLst/>
              <a:ahLst/>
              <a:cxnLst/>
              <a:rect l="l" t="t" r="r" b="b"/>
              <a:pathLst>
                <a:path w="2709333" h="537019">
                  <a:moveTo>
                    <a:pt x="0" y="0"/>
                  </a:moveTo>
                  <a:lnTo>
                    <a:pt x="2709333" y="0"/>
                  </a:lnTo>
                  <a:lnTo>
                    <a:pt x="2709333" y="537019"/>
                  </a:lnTo>
                  <a:lnTo>
                    <a:pt x="0" y="537019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0039"/>
              <a:ext cx="2709330" cy="566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690"/>
                </a:lnSpc>
              </a:pPr>
              <a:r>
                <a:rPr lang="en-US" sz="6205" b="1" spc="335">
                  <a:solidFill>
                    <a:srgbClr val="FFFFFF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ASSURANCE AUTOMOBILE </a:t>
              </a:r>
              <a:r>
                <a:rPr lang="en-US" sz="6205" b="1" spc="335">
                  <a:solidFill>
                    <a:srgbClr val="000000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                 </a:t>
              </a:r>
              <a:r>
                <a:rPr lang="en-US" sz="6205" b="1" spc="335">
                  <a:solidFill>
                    <a:srgbClr val="FFCC00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AU MAROC</a:t>
              </a:r>
              <a:r>
                <a:rPr lang="en-US" sz="6205" b="1" spc="335">
                  <a:solidFill>
                    <a:srgbClr val="FFCC00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 </a:t>
              </a:r>
              <a:endParaRPr lang="en-US" sz="6205" b="1" spc="335">
                <a:solidFill>
                  <a:srgbClr val="FFCC00"/>
                </a:solidFill>
                <a:latin typeface="The Seasons Bold"/>
                <a:ea typeface="The Seasons Bold"/>
                <a:cs typeface="The Seasons Bold"/>
                <a:sym typeface="The Seasons Bold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9791837"/>
            <a:ext cx="15254533" cy="10080163"/>
          </a:xfrm>
          <a:custGeom>
            <a:avLst/>
            <a:gdLst/>
            <a:ahLst/>
            <a:cxnLst/>
            <a:rect l="l" t="t" r="r" b="b"/>
            <a:pathLst>
              <a:path w="15254533" h="10080163">
                <a:moveTo>
                  <a:pt x="0" y="0"/>
                </a:moveTo>
                <a:lnTo>
                  <a:pt x="15254533" y="0"/>
                </a:lnTo>
                <a:lnTo>
                  <a:pt x="15254533" y="10080163"/>
                </a:lnTo>
                <a:lnTo>
                  <a:pt x="0" y="10080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648" t="-32364" r="-30530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0" y="6596009"/>
            <a:ext cx="15120000" cy="3195828"/>
            <a:chOff x="0" y="0"/>
            <a:chExt cx="2709333" cy="5726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3" cy="572656"/>
            </a:xfrm>
            <a:custGeom>
              <a:avLst/>
              <a:gdLst/>
              <a:ahLst/>
              <a:cxnLst/>
              <a:rect l="l" t="t" r="r" b="b"/>
              <a:pathLst>
                <a:path w="2709333" h="572656">
                  <a:moveTo>
                    <a:pt x="0" y="0"/>
                  </a:moveTo>
                  <a:lnTo>
                    <a:pt x="2709333" y="0"/>
                  </a:lnTo>
                  <a:lnTo>
                    <a:pt x="2709333" y="572656"/>
                  </a:lnTo>
                  <a:lnTo>
                    <a:pt x="0" y="572656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152400"/>
              <a:ext cx="2709333" cy="725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7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185522" y="6744995"/>
            <a:ext cx="3934478" cy="2618216"/>
          </a:xfrm>
          <a:custGeom>
            <a:avLst/>
            <a:gdLst/>
            <a:ahLst/>
            <a:cxnLst/>
            <a:rect l="l" t="t" r="r" b="b"/>
            <a:pathLst>
              <a:path w="3934478" h="2618216">
                <a:moveTo>
                  <a:pt x="0" y="0"/>
                </a:moveTo>
                <a:lnTo>
                  <a:pt x="3934478" y="0"/>
                </a:lnTo>
                <a:lnTo>
                  <a:pt x="3934478" y="2618217"/>
                </a:lnTo>
                <a:lnTo>
                  <a:pt x="0" y="2618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-606153" y="13919319"/>
            <a:ext cx="16332306" cy="2937182"/>
            <a:chOff x="0" y="0"/>
            <a:chExt cx="2926565" cy="5263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26565" cy="526310"/>
            </a:xfrm>
            <a:custGeom>
              <a:avLst/>
              <a:gdLst/>
              <a:ahLst/>
              <a:cxnLst/>
              <a:rect l="l" t="t" r="r" b="b"/>
              <a:pathLst>
                <a:path w="2926565" h="526310">
                  <a:moveTo>
                    <a:pt x="11851" y="0"/>
                  </a:moveTo>
                  <a:lnTo>
                    <a:pt x="2914714" y="0"/>
                  </a:lnTo>
                  <a:cubicBezTo>
                    <a:pt x="2917857" y="0"/>
                    <a:pt x="2920872" y="1249"/>
                    <a:pt x="2923094" y="3471"/>
                  </a:cubicBezTo>
                  <a:cubicBezTo>
                    <a:pt x="2925316" y="5693"/>
                    <a:pt x="2926565" y="8708"/>
                    <a:pt x="2926565" y="11851"/>
                  </a:cubicBezTo>
                  <a:lnTo>
                    <a:pt x="2926565" y="514459"/>
                  </a:lnTo>
                  <a:cubicBezTo>
                    <a:pt x="2926565" y="517602"/>
                    <a:pt x="2925316" y="520616"/>
                    <a:pt x="2923094" y="522839"/>
                  </a:cubicBezTo>
                  <a:cubicBezTo>
                    <a:pt x="2920872" y="525061"/>
                    <a:pt x="2917857" y="526310"/>
                    <a:pt x="2914714" y="526310"/>
                  </a:cubicBezTo>
                  <a:lnTo>
                    <a:pt x="11851" y="526310"/>
                  </a:lnTo>
                  <a:cubicBezTo>
                    <a:pt x="8708" y="526310"/>
                    <a:pt x="5693" y="525061"/>
                    <a:pt x="3471" y="522839"/>
                  </a:cubicBezTo>
                  <a:cubicBezTo>
                    <a:pt x="1249" y="520616"/>
                    <a:pt x="0" y="517602"/>
                    <a:pt x="0" y="514459"/>
                  </a:cubicBezTo>
                  <a:lnTo>
                    <a:pt x="0" y="11851"/>
                  </a:lnTo>
                  <a:cubicBezTo>
                    <a:pt x="0" y="8708"/>
                    <a:pt x="1249" y="5693"/>
                    <a:pt x="3471" y="3471"/>
                  </a:cubicBezTo>
                  <a:cubicBezTo>
                    <a:pt x="5693" y="1249"/>
                    <a:pt x="8708" y="0"/>
                    <a:pt x="11851" y="0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926565" cy="59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1927835" y="13396189"/>
            <a:ext cx="2719030" cy="780799"/>
            <a:chOff x="0" y="0"/>
            <a:chExt cx="570608" cy="1638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0608" cy="163856"/>
            </a:xfrm>
            <a:custGeom>
              <a:avLst/>
              <a:gdLst/>
              <a:ahLst/>
              <a:cxnLst/>
              <a:rect l="l" t="t" r="r" b="b"/>
              <a:pathLst>
                <a:path w="570608" h="163856">
                  <a:moveTo>
                    <a:pt x="367408" y="0"/>
                  </a:moveTo>
                  <a:lnTo>
                    <a:pt x="0" y="0"/>
                  </a:lnTo>
                  <a:lnTo>
                    <a:pt x="0" y="163856"/>
                  </a:lnTo>
                  <a:lnTo>
                    <a:pt x="367408" y="163856"/>
                  </a:lnTo>
                  <a:lnTo>
                    <a:pt x="570608" y="81928"/>
                  </a:lnTo>
                  <a:lnTo>
                    <a:pt x="367408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456308" cy="230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FFFFFF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Camions</a:t>
              </a:r>
              <a:endParaRPr lang="en-US" sz="3400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8752478" y="13396189"/>
            <a:ext cx="2441931" cy="780799"/>
            <a:chOff x="0" y="0"/>
            <a:chExt cx="512457" cy="1638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457" cy="163856"/>
            </a:xfrm>
            <a:custGeom>
              <a:avLst/>
              <a:gdLst/>
              <a:ahLst/>
              <a:cxnLst/>
              <a:rect l="l" t="t" r="r" b="b"/>
              <a:pathLst>
                <a:path w="512457" h="163856">
                  <a:moveTo>
                    <a:pt x="309257" y="0"/>
                  </a:moveTo>
                  <a:lnTo>
                    <a:pt x="0" y="0"/>
                  </a:lnTo>
                  <a:lnTo>
                    <a:pt x="0" y="163856"/>
                  </a:lnTo>
                  <a:lnTo>
                    <a:pt x="309257" y="163856"/>
                  </a:lnTo>
                  <a:lnTo>
                    <a:pt x="512457" y="81928"/>
                  </a:lnTo>
                  <a:lnTo>
                    <a:pt x="309257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398157" cy="230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FFFFFF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Motos</a:t>
              </a:r>
              <a:endParaRPr lang="en-US" sz="3400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5428488" y="13393875"/>
            <a:ext cx="2593713" cy="783113"/>
            <a:chOff x="0" y="0"/>
            <a:chExt cx="544309" cy="16434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4310" cy="164342"/>
            </a:xfrm>
            <a:custGeom>
              <a:avLst/>
              <a:gdLst/>
              <a:ahLst/>
              <a:cxnLst/>
              <a:rect l="l" t="t" r="r" b="b"/>
              <a:pathLst>
                <a:path w="544310" h="164342">
                  <a:moveTo>
                    <a:pt x="341109" y="0"/>
                  </a:moveTo>
                  <a:lnTo>
                    <a:pt x="0" y="0"/>
                  </a:lnTo>
                  <a:lnTo>
                    <a:pt x="0" y="164342"/>
                  </a:lnTo>
                  <a:lnTo>
                    <a:pt x="341109" y="164342"/>
                  </a:lnTo>
                  <a:lnTo>
                    <a:pt x="544310" y="82171"/>
                  </a:lnTo>
                  <a:lnTo>
                    <a:pt x="341109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430009" cy="231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  <a:r>
                <a:rPr lang="en-US" sz="3400">
                  <a:solidFill>
                    <a:srgbClr val="FFFFFF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Voitures</a:t>
              </a:r>
              <a:endParaRPr lang="en-US" sz="3400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223122" y="13235190"/>
            <a:ext cx="3739342" cy="1039275"/>
            <a:chOff x="0" y="0"/>
            <a:chExt cx="670048" cy="18622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0048" cy="186226"/>
            </a:xfrm>
            <a:custGeom>
              <a:avLst/>
              <a:gdLst/>
              <a:ahLst/>
              <a:cxnLst/>
              <a:rect l="l" t="t" r="r" b="b"/>
              <a:pathLst>
                <a:path w="670048" h="186226">
                  <a:moveTo>
                    <a:pt x="51760" y="0"/>
                  </a:moveTo>
                  <a:lnTo>
                    <a:pt x="618288" y="0"/>
                  </a:lnTo>
                  <a:cubicBezTo>
                    <a:pt x="632015" y="0"/>
                    <a:pt x="645181" y="5453"/>
                    <a:pt x="654888" y="15160"/>
                  </a:cubicBezTo>
                  <a:cubicBezTo>
                    <a:pt x="664595" y="24867"/>
                    <a:pt x="670048" y="38032"/>
                    <a:pt x="670048" y="51760"/>
                  </a:cubicBezTo>
                  <a:lnTo>
                    <a:pt x="670048" y="134466"/>
                  </a:lnTo>
                  <a:cubicBezTo>
                    <a:pt x="670048" y="163053"/>
                    <a:pt x="646874" y="186226"/>
                    <a:pt x="618288" y="186226"/>
                  </a:cubicBezTo>
                  <a:lnTo>
                    <a:pt x="51760" y="186226"/>
                  </a:lnTo>
                  <a:cubicBezTo>
                    <a:pt x="38032" y="186226"/>
                    <a:pt x="24867" y="180773"/>
                    <a:pt x="15160" y="171066"/>
                  </a:cubicBezTo>
                  <a:cubicBezTo>
                    <a:pt x="5453" y="161359"/>
                    <a:pt x="0" y="148194"/>
                    <a:pt x="0" y="134466"/>
                  </a:cubicBezTo>
                  <a:lnTo>
                    <a:pt x="0" y="51760"/>
                  </a:lnTo>
                  <a:cubicBezTo>
                    <a:pt x="0" y="23174"/>
                    <a:pt x="23174" y="0"/>
                    <a:pt x="517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DE59">
                    <a:alpha val="100000"/>
                  </a:srgbClr>
                </a:gs>
                <a:gs pos="100000">
                  <a:srgbClr val="FF1313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670048" cy="252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3600" b="1">
                  <a:solidFill>
                    <a:srgbClr val="FFFFFF"/>
                  </a:solidFill>
                  <a:latin typeface="Open Sans Bold" panose="020B0806030504020204"/>
                  <a:ea typeface="Open Sans Bold" panose="020B0806030504020204"/>
                  <a:cs typeface="Open Sans Bold" panose="020B0806030504020204"/>
                  <a:sym typeface="Open Sans Bold" panose="020B0806030504020204"/>
                </a:rPr>
                <a:t>nos Avantages</a:t>
              </a:r>
              <a:endParaRPr lang="en-US" sz="360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2239136" y="14445137"/>
            <a:ext cx="1640745" cy="164074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</a:p>
          </p:txBody>
        </p:sp>
      </p:grpSp>
      <p:sp>
        <p:nvSpPr>
          <p:cNvPr id="32" name="Freeform 32"/>
          <p:cNvSpPr/>
          <p:nvPr/>
        </p:nvSpPr>
        <p:spPr>
          <a:xfrm>
            <a:off x="2497089" y="14703090"/>
            <a:ext cx="1124839" cy="1124839"/>
          </a:xfrm>
          <a:custGeom>
            <a:avLst/>
            <a:gdLst/>
            <a:ahLst/>
            <a:cxnLst/>
            <a:rect l="l" t="t" r="r" b="b"/>
            <a:pathLst>
              <a:path w="1124839" h="1124839">
                <a:moveTo>
                  <a:pt x="0" y="0"/>
                </a:moveTo>
                <a:lnTo>
                  <a:pt x="1124839" y="0"/>
                </a:lnTo>
                <a:lnTo>
                  <a:pt x="1124839" y="1124838"/>
                </a:lnTo>
                <a:lnTo>
                  <a:pt x="0" y="112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5340643" y="14445137"/>
            <a:ext cx="1640745" cy="1640745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</a:p>
          </p:txBody>
        </p:sp>
      </p:grpSp>
      <p:sp>
        <p:nvSpPr>
          <p:cNvPr id="36" name="Freeform 36"/>
          <p:cNvSpPr/>
          <p:nvPr/>
        </p:nvSpPr>
        <p:spPr>
          <a:xfrm>
            <a:off x="5508334" y="14532913"/>
            <a:ext cx="1305363" cy="1305363"/>
          </a:xfrm>
          <a:custGeom>
            <a:avLst/>
            <a:gdLst/>
            <a:ahLst/>
            <a:cxnLst/>
            <a:rect l="l" t="t" r="r" b="b"/>
            <a:pathLst>
              <a:path w="1305363" h="1305363">
                <a:moveTo>
                  <a:pt x="0" y="0"/>
                </a:moveTo>
                <a:lnTo>
                  <a:pt x="1305363" y="0"/>
                </a:lnTo>
                <a:lnTo>
                  <a:pt x="1305363" y="1305363"/>
                </a:lnTo>
                <a:lnTo>
                  <a:pt x="0" y="1305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 rot="0">
            <a:off x="8752478" y="14431020"/>
            <a:ext cx="1640745" cy="164074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</a:p>
          </p:txBody>
        </p:sp>
      </p:grpSp>
      <p:grpSp>
        <p:nvGrpSpPr>
          <p:cNvPr id="40" name="Group 40"/>
          <p:cNvGrpSpPr/>
          <p:nvPr/>
        </p:nvGrpSpPr>
        <p:grpSpPr>
          <a:xfrm rot="0">
            <a:off x="11927835" y="14445137"/>
            <a:ext cx="1640745" cy="1640745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</a:p>
          </p:txBody>
        </p:sp>
      </p:grpSp>
      <p:sp>
        <p:nvSpPr>
          <p:cNvPr id="43" name="Freeform 43"/>
          <p:cNvSpPr/>
          <p:nvPr/>
        </p:nvSpPr>
        <p:spPr>
          <a:xfrm>
            <a:off x="12121318" y="14747074"/>
            <a:ext cx="1244244" cy="1036870"/>
          </a:xfrm>
          <a:custGeom>
            <a:avLst/>
            <a:gdLst/>
            <a:ahLst/>
            <a:cxnLst/>
            <a:rect l="l" t="t" r="r" b="b"/>
            <a:pathLst>
              <a:path w="1244244" h="1036870">
                <a:moveTo>
                  <a:pt x="0" y="0"/>
                </a:moveTo>
                <a:lnTo>
                  <a:pt x="1244244" y="0"/>
                </a:lnTo>
                <a:lnTo>
                  <a:pt x="1244244" y="1036870"/>
                </a:lnTo>
                <a:lnTo>
                  <a:pt x="0" y="10368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8998757" y="14703090"/>
            <a:ext cx="1148187" cy="1148187"/>
          </a:xfrm>
          <a:custGeom>
            <a:avLst/>
            <a:gdLst/>
            <a:ahLst/>
            <a:cxnLst/>
            <a:rect l="l" t="t" r="r" b="b"/>
            <a:pathLst>
              <a:path w="1148187" h="1148187">
                <a:moveTo>
                  <a:pt x="0" y="0"/>
                </a:moveTo>
                <a:lnTo>
                  <a:pt x="1148187" y="0"/>
                </a:lnTo>
                <a:lnTo>
                  <a:pt x="1148187" y="1148187"/>
                </a:lnTo>
                <a:lnTo>
                  <a:pt x="0" y="1148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 rot="0">
            <a:off x="1159984" y="16996902"/>
            <a:ext cx="606614" cy="606614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</a:p>
          </p:txBody>
        </p:sp>
      </p:grpSp>
      <p:sp>
        <p:nvSpPr>
          <p:cNvPr id="48" name="Freeform 48"/>
          <p:cNvSpPr/>
          <p:nvPr/>
        </p:nvSpPr>
        <p:spPr>
          <a:xfrm>
            <a:off x="1236091" y="17073009"/>
            <a:ext cx="454399" cy="454399"/>
          </a:xfrm>
          <a:custGeom>
            <a:avLst/>
            <a:gdLst/>
            <a:ahLst/>
            <a:cxnLst/>
            <a:rect l="l" t="t" r="r" b="b"/>
            <a:pathLst>
              <a:path w="454399" h="454399">
                <a:moveTo>
                  <a:pt x="0" y="0"/>
                </a:moveTo>
                <a:lnTo>
                  <a:pt x="454399" y="0"/>
                </a:lnTo>
                <a:lnTo>
                  <a:pt x="454399" y="454400"/>
                </a:lnTo>
                <a:lnTo>
                  <a:pt x="0" y="454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49" name="Group 49"/>
          <p:cNvGrpSpPr/>
          <p:nvPr/>
        </p:nvGrpSpPr>
        <p:grpSpPr>
          <a:xfrm rot="0">
            <a:off x="1159984" y="17921844"/>
            <a:ext cx="606614" cy="606614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0">
            <a:off x="1159984" y="18846787"/>
            <a:ext cx="606614" cy="606614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60"/>
                </a:lnSpc>
              </a:pPr>
            </a:p>
          </p:txBody>
        </p:sp>
      </p:grpSp>
      <p:sp>
        <p:nvSpPr>
          <p:cNvPr id="55" name="Freeform 55"/>
          <p:cNvSpPr/>
          <p:nvPr/>
        </p:nvSpPr>
        <p:spPr>
          <a:xfrm>
            <a:off x="1217285" y="17995636"/>
            <a:ext cx="473205" cy="459030"/>
          </a:xfrm>
          <a:custGeom>
            <a:avLst/>
            <a:gdLst/>
            <a:ahLst/>
            <a:cxnLst/>
            <a:rect l="l" t="t" r="r" b="b"/>
            <a:pathLst>
              <a:path w="473205" h="459030">
                <a:moveTo>
                  <a:pt x="0" y="0"/>
                </a:moveTo>
                <a:lnTo>
                  <a:pt x="473205" y="0"/>
                </a:lnTo>
                <a:lnTo>
                  <a:pt x="473205" y="459030"/>
                </a:lnTo>
                <a:lnTo>
                  <a:pt x="0" y="4590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3088"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1202507" y="18918983"/>
            <a:ext cx="487983" cy="423188"/>
          </a:xfrm>
          <a:custGeom>
            <a:avLst/>
            <a:gdLst/>
            <a:ahLst/>
            <a:cxnLst/>
            <a:rect l="l" t="t" r="r" b="b"/>
            <a:pathLst>
              <a:path w="487983" h="423188">
                <a:moveTo>
                  <a:pt x="0" y="0"/>
                </a:moveTo>
                <a:lnTo>
                  <a:pt x="487983" y="0"/>
                </a:lnTo>
                <a:lnTo>
                  <a:pt x="487983" y="423189"/>
                </a:lnTo>
                <a:lnTo>
                  <a:pt x="0" y="423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4752340" y="16165830"/>
            <a:ext cx="3268980" cy="4641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895"/>
              </a:lnSpc>
              <a:spcBef>
                <a:spcPct val="0"/>
              </a:spcBef>
            </a:pPr>
            <a:r>
              <a:rPr lang="en-US" sz="2065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Couve</a:t>
            </a:r>
            <a:r>
              <a:rPr lang="en-US" sz="2065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rture nationale</a:t>
            </a:r>
            <a:endParaRPr lang="en-US" sz="2065" b="1">
              <a:solidFill>
                <a:srgbClr val="00000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grpSp>
        <p:nvGrpSpPr>
          <p:cNvPr id="58" name="Group 58"/>
          <p:cNvGrpSpPr/>
          <p:nvPr/>
        </p:nvGrpSpPr>
        <p:grpSpPr>
          <a:xfrm rot="0">
            <a:off x="0" y="19863331"/>
            <a:ext cx="15254533" cy="1520669"/>
            <a:chOff x="0" y="0"/>
            <a:chExt cx="2733440" cy="272487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733440" cy="272487"/>
            </a:xfrm>
            <a:custGeom>
              <a:avLst/>
              <a:gdLst/>
              <a:ahLst/>
              <a:cxnLst/>
              <a:rect l="l" t="t" r="r" b="b"/>
              <a:pathLst>
                <a:path w="2733440" h="272487">
                  <a:moveTo>
                    <a:pt x="0" y="0"/>
                  </a:moveTo>
                  <a:lnTo>
                    <a:pt x="2733440" y="0"/>
                  </a:lnTo>
                  <a:lnTo>
                    <a:pt x="2733440" y="272487"/>
                  </a:lnTo>
                  <a:lnTo>
                    <a:pt x="0" y="272487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0"/>
              <a:ext cx="2733440" cy="367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560"/>
                </a:lnSpc>
              </a:pPr>
              <a:r>
                <a:rPr lang="en-US" sz="5400">
                  <a:solidFill>
                    <a:srgbClr val="FFFFFF"/>
                  </a:solidFill>
                  <a:latin typeface="Shrikhand" panose="02000000000000000000"/>
                  <a:ea typeface="Shrikhand" panose="02000000000000000000"/>
                  <a:cs typeface="Shrikhand" panose="02000000000000000000"/>
                  <a:sym typeface="Shrikhand" panose="02000000000000000000"/>
                </a:rPr>
                <a:t>2025</a:t>
              </a:r>
              <a:endParaRPr lang="en-US" sz="5400">
                <a:solidFill>
                  <a:srgbClr val="FFFFFF"/>
                </a:solidFill>
                <a:latin typeface="Shrikhand" panose="02000000000000000000"/>
                <a:ea typeface="Shrikhand" panose="02000000000000000000"/>
                <a:cs typeface="Shrikhand" panose="02000000000000000000"/>
                <a:sym typeface="Shrikhand" panose="02000000000000000000"/>
              </a:endParaRPr>
            </a:p>
          </p:txBody>
        </p:sp>
      </p:grpSp>
      <p:sp>
        <p:nvSpPr>
          <p:cNvPr id="61" name="AutoShape 61"/>
          <p:cNvSpPr/>
          <p:nvPr/>
        </p:nvSpPr>
        <p:spPr>
          <a:xfrm>
            <a:off x="10070064" y="5588822"/>
            <a:ext cx="3217286" cy="0"/>
          </a:xfrm>
          <a:prstGeom prst="line">
            <a:avLst/>
          </a:prstGeom>
          <a:ln w="1047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1766597" y="5674547"/>
            <a:ext cx="3217286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AutoShape 63"/>
          <p:cNvSpPr/>
          <p:nvPr/>
        </p:nvSpPr>
        <p:spPr>
          <a:xfrm>
            <a:off x="2332160" y="17680537"/>
            <a:ext cx="6046101" cy="0"/>
          </a:xfrm>
          <a:prstGeom prst="line">
            <a:avLst/>
          </a:prstGeom>
          <a:ln w="76200" cap="flat">
            <a:solidFill>
              <a:srgbClr val="FFFFFF">
                <a:alpha val="5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>
            <a:off x="2332160" y="18710254"/>
            <a:ext cx="6046101" cy="0"/>
          </a:xfrm>
          <a:prstGeom prst="line">
            <a:avLst/>
          </a:prstGeom>
          <a:ln w="76200" cap="flat">
            <a:solidFill>
              <a:srgbClr val="FFFFFF">
                <a:alpha val="5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AutoShape 65"/>
          <p:cNvSpPr/>
          <p:nvPr/>
        </p:nvSpPr>
        <p:spPr>
          <a:xfrm>
            <a:off x="2332160" y="19710931"/>
            <a:ext cx="6046101" cy="0"/>
          </a:xfrm>
          <a:prstGeom prst="line">
            <a:avLst/>
          </a:prstGeom>
          <a:ln w="76200" cap="flat">
            <a:solidFill>
              <a:srgbClr val="FFFFFF">
                <a:alpha val="5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6" name="AutoShape 66"/>
          <p:cNvSpPr/>
          <p:nvPr/>
        </p:nvSpPr>
        <p:spPr>
          <a:xfrm flipH="1">
            <a:off x="11194410" y="14532913"/>
            <a:ext cx="0" cy="2165359"/>
          </a:xfrm>
          <a:prstGeom prst="line">
            <a:avLst/>
          </a:prstGeom>
          <a:ln w="76200" cap="flat">
            <a:solidFill>
              <a:srgbClr val="8E8E8E">
                <a:alpha val="5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" name="AutoShape 67"/>
          <p:cNvSpPr/>
          <p:nvPr/>
        </p:nvSpPr>
        <p:spPr>
          <a:xfrm flipH="1">
            <a:off x="8022201" y="14524578"/>
            <a:ext cx="0" cy="2165359"/>
          </a:xfrm>
          <a:prstGeom prst="line">
            <a:avLst/>
          </a:prstGeom>
          <a:ln w="76200" cap="flat">
            <a:solidFill>
              <a:srgbClr val="8E8E8E">
                <a:alpha val="5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8" name="AutoShape 68"/>
          <p:cNvSpPr/>
          <p:nvPr/>
        </p:nvSpPr>
        <p:spPr>
          <a:xfrm flipH="1">
            <a:off x="4849992" y="14516242"/>
            <a:ext cx="0" cy="2165359"/>
          </a:xfrm>
          <a:prstGeom prst="line">
            <a:avLst/>
          </a:prstGeom>
          <a:ln w="76200" cap="flat">
            <a:solidFill>
              <a:srgbClr val="8E8E8E">
                <a:alpha val="55686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9" name="Freeform 69"/>
          <p:cNvSpPr/>
          <p:nvPr/>
        </p:nvSpPr>
        <p:spPr>
          <a:xfrm>
            <a:off x="1002007" y="6991861"/>
            <a:ext cx="764590" cy="733051"/>
          </a:xfrm>
          <a:custGeom>
            <a:avLst/>
            <a:gdLst/>
            <a:ahLst/>
            <a:cxnLst/>
            <a:rect l="l" t="t" r="r" b="b"/>
            <a:pathLst>
              <a:path w="764590" h="733051">
                <a:moveTo>
                  <a:pt x="0" y="0"/>
                </a:moveTo>
                <a:lnTo>
                  <a:pt x="764590" y="0"/>
                </a:lnTo>
                <a:lnTo>
                  <a:pt x="764590" y="733051"/>
                </a:lnTo>
                <a:lnTo>
                  <a:pt x="0" y="7330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70" name="TextBox 70"/>
          <p:cNvSpPr txBox="1"/>
          <p:nvPr/>
        </p:nvSpPr>
        <p:spPr>
          <a:xfrm>
            <a:off x="875359" y="7020436"/>
            <a:ext cx="7490107" cy="277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           </a:t>
            </a:r>
            <a:r>
              <a:rPr lang="en-US" sz="3400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Assurance Tiers </a:t>
            </a:r>
            <a:endParaRPr lang="en-US" sz="3400" b="1">
              <a:solidFill>
                <a:srgbClr val="00000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algn="just">
              <a:lnSpc>
                <a:spcPts val="7855"/>
              </a:lnSpc>
            </a:pPr>
            <a:r>
              <a:rPr lang="en-US" sz="3400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           Assurance Tiers+</a:t>
            </a:r>
            <a:endParaRPr lang="en-US" sz="3400" b="1">
              <a:solidFill>
                <a:srgbClr val="00000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algn="just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           Assurance Tous Risques </a:t>
            </a:r>
            <a:endParaRPr lang="en-US" sz="3400" b="1">
              <a:solidFill>
                <a:srgbClr val="00000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  <a:p>
            <a:pPr algn="just">
              <a:lnSpc>
                <a:spcPts val="4760"/>
              </a:lnSpc>
            </a:pPr>
          </a:p>
        </p:txBody>
      </p:sp>
      <p:sp>
        <p:nvSpPr>
          <p:cNvPr id="71" name="Freeform 71"/>
          <p:cNvSpPr/>
          <p:nvPr/>
        </p:nvSpPr>
        <p:spPr>
          <a:xfrm>
            <a:off x="1002007" y="7811011"/>
            <a:ext cx="764590" cy="733051"/>
          </a:xfrm>
          <a:custGeom>
            <a:avLst/>
            <a:gdLst/>
            <a:ahLst/>
            <a:cxnLst/>
            <a:rect l="l" t="t" r="r" b="b"/>
            <a:pathLst>
              <a:path w="764590" h="733051">
                <a:moveTo>
                  <a:pt x="0" y="0"/>
                </a:moveTo>
                <a:lnTo>
                  <a:pt x="764590" y="0"/>
                </a:lnTo>
                <a:lnTo>
                  <a:pt x="764590" y="733051"/>
                </a:lnTo>
                <a:lnTo>
                  <a:pt x="0" y="7330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1002007" y="8630161"/>
            <a:ext cx="764590" cy="733051"/>
          </a:xfrm>
          <a:custGeom>
            <a:avLst/>
            <a:gdLst/>
            <a:ahLst/>
            <a:cxnLst/>
            <a:rect l="l" t="t" r="r" b="b"/>
            <a:pathLst>
              <a:path w="764590" h="733051">
                <a:moveTo>
                  <a:pt x="0" y="0"/>
                </a:moveTo>
                <a:lnTo>
                  <a:pt x="764590" y="0"/>
                </a:lnTo>
                <a:lnTo>
                  <a:pt x="764590" y="733051"/>
                </a:lnTo>
                <a:lnTo>
                  <a:pt x="0" y="7330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73" name="AutoShape 73"/>
          <p:cNvSpPr/>
          <p:nvPr/>
        </p:nvSpPr>
        <p:spPr>
          <a:xfrm flipV="1">
            <a:off x="0" y="19802475"/>
            <a:ext cx="15323820" cy="68580"/>
          </a:xfrm>
          <a:prstGeom prst="line">
            <a:avLst/>
          </a:prstGeom>
          <a:ln w="447675" cap="flat">
            <a:solidFill>
              <a:srgbClr val="FFCC00">
                <a:alpha val="8588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Freeform 74"/>
          <p:cNvSpPr/>
          <p:nvPr/>
        </p:nvSpPr>
        <p:spPr>
          <a:xfrm>
            <a:off x="7757063" y="6478953"/>
            <a:ext cx="3672605" cy="2750909"/>
          </a:xfrm>
          <a:custGeom>
            <a:avLst/>
            <a:gdLst/>
            <a:ahLst/>
            <a:cxnLst/>
            <a:rect l="l" t="t" r="r" b="b"/>
            <a:pathLst>
              <a:path w="3672605" h="2750909">
                <a:moveTo>
                  <a:pt x="0" y="0"/>
                </a:moveTo>
                <a:lnTo>
                  <a:pt x="3672605" y="0"/>
                </a:lnTo>
                <a:lnTo>
                  <a:pt x="3672605" y="2750909"/>
                </a:lnTo>
                <a:lnTo>
                  <a:pt x="0" y="27509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75" name="TextBox 75"/>
          <p:cNvSpPr txBox="1"/>
          <p:nvPr/>
        </p:nvSpPr>
        <p:spPr>
          <a:xfrm>
            <a:off x="2998682" y="474644"/>
            <a:ext cx="9122637" cy="196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0"/>
              </a:lnSpc>
              <a:spcBef>
                <a:spcPct val="0"/>
              </a:spcBef>
            </a:pPr>
            <a:r>
              <a:rPr lang="en-US" sz="5605">
                <a:solidFill>
                  <a:srgbClr val="FFFFFF"/>
                </a:solidFill>
                <a:latin typeface="Gagalin" panose="00000500000000000000"/>
                <a:ea typeface="Gagalin" panose="00000500000000000000"/>
                <a:cs typeface="Gagalin" panose="00000500000000000000"/>
                <a:sym typeface="Gagalin" panose="00000500000000000000"/>
              </a:rPr>
              <a:t>Assu</a:t>
            </a:r>
            <a:r>
              <a:rPr lang="en-US" sz="5605">
                <a:solidFill>
                  <a:srgbClr val="FFFFFF"/>
                </a:solidFill>
                <a:latin typeface="Gagalin" panose="00000500000000000000"/>
                <a:ea typeface="Gagalin" panose="00000500000000000000"/>
                <a:cs typeface="Gagalin" panose="00000500000000000000"/>
                <a:sym typeface="Gagalin" panose="00000500000000000000"/>
              </a:rPr>
              <a:t>rance </a:t>
            </a:r>
            <a:r>
              <a:rPr lang="en-US" sz="5605">
                <a:solidFill>
                  <a:srgbClr val="FFCC00"/>
                </a:solidFill>
                <a:latin typeface="Gagalin" panose="00000500000000000000"/>
                <a:ea typeface="Gagalin" panose="00000500000000000000"/>
                <a:cs typeface="Gagalin" panose="00000500000000000000"/>
                <a:sym typeface="Gagalin" panose="00000500000000000000"/>
              </a:rPr>
              <a:t>Auto </a:t>
            </a:r>
            <a:r>
              <a:rPr lang="en-US" sz="5605">
                <a:solidFill>
                  <a:srgbClr val="FFFFFF"/>
                </a:solidFill>
                <a:latin typeface="Gagalin" panose="00000500000000000000"/>
                <a:ea typeface="Gagalin" panose="00000500000000000000"/>
                <a:cs typeface="Gagalin" panose="00000500000000000000"/>
                <a:sym typeface="Gagalin" panose="00000500000000000000"/>
              </a:rPr>
              <a:t>Ouarzazate</a:t>
            </a:r>
            <a:endParaRPr lang="en-US" sz="5605">
              <a:solidFill>
                <a:srgbClr val="FFFFFF"/>
              </a:solidFill>
              <a:latin typeface="Gagalin" panose="00000500000000000000"/>
              <a:ea typeface="Gagalin" panose="00000500000000000000"/>
              <a:cs typeface="Gagalin" panose="00000500000000000000"/>
              <a:sym typeface="Gagalin" panose="00000500000000000000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2998682" y="2282656"/>
            <a:ext cx="9391703" cy="73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0"/>
              </a:lnSpc>
              <a:spcBef>
                <a:spcPct val="0"/>
              </a:spcBef>
            </a:pPr>
            <a:r>
              <a:rPr lang="en-US" sz="3905" spc="21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Votre sécu</a:t>
            </a:r>
            <a:r>
              <a:rPr lang="en-US" sz="3905" spc="21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rité, notre priorité</a:t>
            </a:r>
            <a:endParaRPr lang="en-US" sz="3905" spc="210">
              <a:solidFill>
                <a:srgbClr val="FFFFFF"/>
              </a:solidFill>
              <a:latin typeface="The Seasons"/>
              <a:ea typeface="The Seasons"/>
              <a:cs typeface="The Seasons"/>
              <a:sym typeface="The Seasons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1766597" y="16146576"/>
            <a:ext cx="2464168" cy="367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  <a:spcBef>
                <a:spcPct val="0"/>
              </a:spcBef>
            </a:pPr>
            <a:r>
              <a:rPr lang="en-US" sz="2145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Ta</a:t>
            </a:r>
            <a:r>
              <a:rPr lang="en-US" sz="2145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rifs compétitifs </a:t>
            </a:r>
            <a:endParaRPr lang="en-US" sz="2145" b="1">
              <a:solidFill>
                <a:srgbClr val="00000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8378190" y="16177260"/>
            <a:ext cx="2678430" cy="4648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895"/>
              </a:lnSpc>
              <a:spcBef>
                <a:spcPct val="0"/>
              </a:spcBef>
            </a:pPr>
            <a:r>
              <a:rPr lang="en-US" sz="2065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Assis</a:t>
            </a:r>
            <a:r>
              <a:rPr lang="en-US" sz="2065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tance 24h/24</a:t>
            </a:r>
            <a:endParaRPr lang="en-US" sz="2065" b="1">
              <a:solidFill>
                <a:srgbClr val="00000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1592560" y="16177260"/>
            <a:ext cx="3288030" cy="3130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895"/>
              </a:lnSpc>
              <a:spcBef>
                <a:spcPct val="0"/>
              </a:spcBef>
            </a:pPr>
            <a:r>
              <a:rPr lang="en-US" sz="2065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Sousc</a:t>
            </a:r>
            <a:r>
              <a:rPr lang="en-US" sz="2065" b="1">
                <a:solidFill>
                  <a:srgbClr val="000000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ription rapide</a:t>
            </a:r>
            <a:endParaRPr lang="en-US" sz="2065" b="1">
              <a:solidFill>
                <a:srgbClr val="000000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1957370" y="17081806"/>
            <a:ext cx="5326086" cy="389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APPELEZ-NOUS :       06 12 34 56 78</a:t>
            </a:r>
            <a:endParaRPr lang="en-US" sz="230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1957370" y="18006748"/>
            <a:ext cx="7494874" cy="389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EMAIL:     CONTACT@ASSURANCE AUTO-OR .COM</a:t>
            </a:r>
            <a:endParaRPr lang="en-US" sz="230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957370" y="18912174"/>
            <a:ext cx="6899520" cy="389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Open Sans Bold" panose="020B0806030504020204"/>
                <a:ea typeface="Open Sans Bold" panose="020B0806030504020204"/>
                <a:cs typeface="Open Sans Bold" panose="020B0806030504020204"/>
                <a:sym typeface="Open Sans Bold" panose="020B0806030504020204"/>
              </a:rPr>
              <a:t>ADRESSE :  HEY EL MOHMADI , OUARZAZATE</a:t>
            </a:r>
            <a:endParaRPr lang="en-US" sz="2300" b="1">
              <a:solidFill>
                <a:srgbClr val="FFFFFF"/>
              </a:solidFill>
              <a:latin typeface="Open Sans Bold" panose="020B0806030504020204"/>
              <a:ea typeface="Open Sans Bold" panose="020B0806030504020204"/>
              <a:cs typeface="Open Sans Bold" panose="020B0806030504020204"/>
              <a:sym typeface="Open Sans Bold" panose="020B0806030504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WPS Presentation</Application>
  <PresentationFormat>On-screen Show (4:3)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The Seasons Bold</vt:lpstr>
      <vt:lpstr>Open Sans</vt:lpstr>
      <vt:lpstr>Open Sans Bold</vt:lpstr>
      <vt:lpstr>Shrikhand</vt:lpstr>
      <vt:lpstr>Gagalin</vt:lpstr>
      <vt:lpstr>The Seasons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Assurance Auto Ouarzazate</dc:title>
  <dc:creator/>
  <cp:lastModifiedBy>mohamed naceri</cp:lastModifiedBy>
  <cp:revision>2</cp:revision>
  <dcterms:created xsi:type="dcterms:W3CDTF">2006-08-16T00:00:00Z</dcterms:created>
  <dcterms:modified xsi:type="dcterms:W3CDTF">2026-01-02T19:27:14Z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F2D3CF65FDCD46BC88A18C8B3F6BA781_12</vt:lpwstr>
  </property>
  <property fmtid="{D5CDD505-2E9C-101B-9397-08002B2CF9AE}" pid="3" name="KSOProductBuildVer">
    <vt:lpwstr>3084-12.2.0.23197</vt:lpwstr>
  </property>
</Properties>
</file>